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%</c:v>
                </c:pt>
              </c:strCache>
            </c:strRef>
          </c:tx>
          <c:spPr>
            <a:solidFill>
              <a:srgbClr val="2E5E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5EA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A90D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A8C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0B429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R&amp;D</c:v>
                  </c:pt>
                  <c:pt idx="1">
                    <c:v>Software</c:v>
                  </c:pt>
                  <c:pt idx="2">
                    <c:v>Support</c:v>
                  </c:pt>
                  <c:pt idx="3">
                    <c:v>Sales</c:v>
                  </c:pt>
                  <c:pt idx="4">
                    <c:v>HR</c:v>
                  </c:pt>
                  <c:pt idx="5">
                    <c:v>Hardware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51.21</c:v>
                </c:pt>
                <c:pt idx="1">
                  <c:v>50.54</c:v>
                </c:pt>
                <c:pt idx="2">
                  <c:v>50.19</c:v>
                </c:pt>
                <c:pt idx="3">
                  <c:v>50.02</c:v>
                </c:pt>
                <c:pt idx="4">
                  <c:v>49.86</c:v>
                </c:pt>
                <c:pt idx="5">
                  <c:v>49.44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8B8D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2"/>
          <c:min val="48"/>
        </c:scaling>
        <c:delete val="0"/>
        <c:axPos val="b"/>
        <c:majorGridlines>
          <c:spPr>
            <a:ln w="6350" cap="flat">
              <a:solidFill>
                <a:srgbClr val="2E3D6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8B8D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E2F5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Count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A8CC"/>
              </a:solidFill>
              <a:effectLst/>
            </c:spPr>
          </c:dPt>
          <c:dPt>
            <c:idx val="1"/>
            <c:bubble3D val="0"/>
            <c:spPr>
              <a:solidFill>
                <a:srgbClr val="4A90D9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Female (12,560)</c:v>
                </c:pt>
                <c:pt idx="1">
                  <c:v>Male (12,545)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12560</c:v>
                </c:pt>
                <c:pt idx="1">
                  <c:v>12545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A8B8D0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E2F5C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%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0B42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A90D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A8C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E5EA6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R&amp;D</c:v>
                  </c:pt>
                  <c:pt idx="1">
                    <c:v>Software</c:v>
                  </c:pt>
                  <c:pt idx="2">
                    <c:v>Support</c:v>
                  </c:pt>
                  <c:pt idx="3">
                    <c:v>Sales</c:v>
                  </c:pt>
                  <c:pt idx="4">
                    <c:v>HR</c:v>
                  </c:pt>
                  <c:pt idx="5">
                    <c:v>Hardware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51.21</c:v>
                </c:pt>
                <c:pt idx="1">
                  <c:v>50.54</c:v>
                </c:pt>
                <c:pt idx="2">
                  <c:v>50.19</c:v>
                </c:pt>
                <c:pt idx="3">
                  <c:v>50.02</c:v>
                </c:pt>
                <c:pt idx="4">
                  <c:v>49.86</c:v>
                </c:pt>
                <c:pt idx="5">
                  <c:v>49.44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8B8D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2"/>
          <c:min val="48.5"/>
        </c:scaling>
        <c:delete val="0"/>
        <c:axPos val="l"/>
        <c:majorGridlines>
          <c:spPr>
            <a:ln w="6350" cap="flat">
              <a:solidFill>
                <a:srgbClr val="2E3D6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8B8D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E2F5C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Income</c:v>
                </c:pt>
              </c:strCache>
            </c:strRef>
          </c:tx>
          <c:spPr>
            <a:solidFill>
              <a:srgbClr val="4A90D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Manager</c:v>
                  </c:pt>
                  <c:pt idx="1">
                    <c:v>Sales Exec</c:v>
                  </c:pt>
                  <c:pt idx="2">
                    <c:v>Developer</c:v>
                  </c:pt>
                  <c:pt idx="3">
                    <c:v>R.Director</c:v>
                  </c:pt>
                  <c:pt idx="4">
                    <c:v>Sales Rep</c:v>
                  </c:pt>
                  <c:pt idx="5">
                    <c:v>Lab Tech</c:v>
                  </c:pt>
                  <c:pt idx="6">
                    <c:v>Mfg Dir</c:v>
                  </c:pt>
                  <c:pt idx="7">
                    <c:v>H.Care Rep</c:v>
                  </c:pt>
                  <c:pt idx="8">
                    <c:v>R.Scientist</c:v>
                  </c:pt>
                  <c:pt idx="9">
                    <c:v>HR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26365</c:v>
                </c:pt>
                <c:pt idx="1">
                  <c:v>26132</c:v>
                </c:pt>
                <c:pt idx="2">
                  <c:v>26012</c:v>
                </c:pt>
                <c:pt idx="3">
                  <c:v>26008</c:v>
                </c:pt>
                <c:pt idx="4">
                  <c:v>26099</c:v>
                </c:pt>
                <c:pt idx="5">
                  <c:v>25948</c:v>
                </c:pt>
                <c:pt idx="6">
                  <c:v>25937</c:v>
                </c:pt>
                <c:pt idx="7">
                  <c:v>25937</c:v>
                </c:pt>
                <c:pt idx="8">
                  <c:v>25917</c:v>
                </c:pt>
                <c:pt idx="9">
                  <c:v>25795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8B8D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E3D6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8B8D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E2F5C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Years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A8C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A90D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E5EA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0B429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Software</c:v>
                  </c:pt>
                  <c:pt idx="1">
                    <c:v>Sales</c:v>
                  </c:pt>
                  <c:pt idx="2">
                    <c:v>Support</c:v>
                  </c:pt>
                  <c:pt idx="3">
                    <c:v>Hardware</c:v>
                  </c:pt>
                  <c:pt idx="4">
                    <c:v>HR</c:v>
                  </c:pt>
                  <c:pt idx="5">
                    <c:v>R&amp;D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20.65</c:v>
                </c:pt>
                <c:pt idx="1">
                  <c:v>20.62</c:v>
                </c:pt>
                <c:pt idx="2">
                  <c:v>20.48</c:v>
                </c:pt>
                <c:pt idx="3">
                  <c:v>20.48</c:v>
                </c:pt>
                <c:pt idx="4">
                  <c:v>20.45</c:v>
                </c:pt>
                <c:pt idx="5">
                  <c:v>20.3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8B8D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1"/>
          <c:min val="20"/>
        </c:scaling>
        <c:delete val="0"/>
        <c:axPos val="l"/>
        <c:majorGridlines>
          <c:spPr>
            <a:ln w="6350" cap="flat">
              <a:solidFill>
                <a:srgbClr val="2E3D6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8B8D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E2F5C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WLB Score</c:v>
                </c:pt>
              </c:strCache>
            </c:strRef>
          </c:tx>
          <c:spPr>
            <a:solidFill>
              <a:srgbClr val="F0B42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R.Scientist</c:v>
                  </c:pt>
                  <c:pt idx="1">
                    <c:v>Developer</c:v>
                  </c:pt>
                  <c:pt idx="2">
                    <c:v>H.Care Rep</c:v>
                  </c:pt>
                  <c:pt idx="3">
                    <c:v>Sales Rep</c:v>
                  </c:pt>
                  <c:pt idx="4">
                    <c:v>Mfg Dir</c:v>
                  </c:pt>
                  <c:pt idx="5">
                    <c:v>Manager</c:v>
                  </c:pt>
                  <c:pt idx="6">
                    <c:v>HR</c:v>
                  </c:pt>
                  <c:pt idx="7">
                    <c:v>R.Director</c:v>
                  </c:pt>
                  <c:pt idx="8">
                    <c:v>Lab Tech</c:v>
                  </c:pt>
                  <c:pt idx="9">
                    <c:v>Sales Exec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2.514</c:v>
                </c:pt>
                <c:pt idx="1">
                  <c:v>2.511</c:v>
                </c:pt>
                <c:pt idx="2">
                  <c:v>2.507</c:v>
                </c:pt>
                <c:pt idx="3">
                  <c:v>2.499</c:v>
                </c:pt>
                <c:pt idx="4">
                  <c:v>2.502</c:v>
                </c:pt>
                <c:pt idx="5">
                  <c:v>2.497</c:v>
                </c:pt>
                <c:pt idx="6">
                  <c:v>2.505</c:v>
                </c:pt>
                <c:pt idx="7">
                  <c:v>2.494</c:v>
                </c:pt>
                <c:pt idx="8">
                  <c:v>2.49</c:v>
                </c:pt>
                <c:pt idx="9">
                  <c:v>2.469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8B8D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E3D6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8B8D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E2F5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chart" Target="/ppt/charts/chart5.xml"/><Relationship Id="rId4" Type="http://schemas.openxmlformats.org/officeDocument/2006/relationships/chart" Target="/ppt/charts/chart6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5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243060"/>
          </a:solidFill>
          <a:ln/>
        </p:spPr>
      </p:sp>
      <p:sp>
        <p:nvSpPr>
          <p:cNvPr id="3" name="Shape 1"/>
          <p:cNvSpPr/>
          <p:nvPr/>
        </p:nvSpPr>
        <p:spPr>
          <a:xfrm>
            <a:off x="3474720" y="0"/>
            <a:ext cx="73152" cy="51435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457200"/>
            <a:ext cx="73152" cy="73152"/>
          </a:xfrm>
          <a:prstGeom prst="oval">
            <a:avLst/>
          </a:prstGeom>
          <a:solidFill>
            <a:srgbClr val="4A90D9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457200"/>
            <a:ext cx="73152" cy="73152"/>
          </a:xfrm>
          <a:prstGeom prst="oval">
            <a:avLst/>
          </a:prstGeom>
          <a:solidFill>
            <a:srgbClr val="4A90D9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463040" y="457200"/>
            <a:ext cx="73152" cy="73152"/>
          </a:xfrm>
          <a:prstGeom prst="oval">
            <a:avLst/>
          </a:prstGeom>
          <a:solidFill>
            <a:srgbClr val="4A90D9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2057400" y="457200"/>
            <a:ext cx="73152" cy="73152"/>
          </a:xfrm>
          <a:prstGeom prst="oval">
            <a:avLst/>
          </a:prstGeom>
          <a:solidFill>
            <a:srgbClr val="4A90D9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2651760" y="457200"/>
            <a:ext cx="73152" cy="73152"/>
          </a:xfrm>
          <a:prstGeom prst="oval">
            <a:avLst/>
          </a:prstGeom>
          <a:solidFill>
            <a:srgbClr val="4A90D9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274320" y="1234440"/>
            <a:ext cx="73152" cy="73152"/>
          </a:xfrm>
          <a:prstGeom prst="oval">
            <a:avLst/>
          </a:prstGeom>
          <a:solidFill>
            <a:srgbClr val="4A90D9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68680" y="1234440"/>
            <a:ext cx="73152" cy="73152"/>
          </a:xfrm>
          <a:prstGeom prst="oval">
            <a:avLst/>
          </a:prstGeom>
          <a:solidFill>
            <a:srgbClr val="4A90D9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463040" y="1234440"/>
            <a:ext cx="73152" cy="73152"/>
          </a:xfrm>
          <a:prstGeom prst="oval">
            <a:avLst/>
          </a:prstGeom>
          <a:solidFill>
            <a:srgbClr val="4A90D9">
              <a:alpha val="3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057400" y="1234440"/>
            <a:ext cx="73152" cy="73152"/>
          </a:xfrm>
          <a:prstGeom prst="oval">
            <a:avLst/>
          </a:prstGeom>
          <a:solidFill>
            <a:srgbClr val="4A90D9">
              <a:alpha val="3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651760" y="1234440"/>
            <a:ext cx="73152" cy="73152"/>
          </a:xfrm>
          <a:prstGeom prst="oval">
            <a:avLst/>
          </a:prstGeom>
          <a:solidFill>
            <a:srgbClr val="4A90D9">
              <a:alpha val="3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74320" y="2011680"/>
            <a:ext cx="73152" cy="73152"/>
          </a:xfrm>
          <a:prstGeom prst="oval">
            <a:avLst/>
          </a:prstGeom>
          <a:solidFill>
            <a:srgbClr val="4A90D9">
              <a:alpha val="3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68680" y="2011680"/>
            <a:ext cx="73152" cy="73152"/>
          </a:xfrm>
          <a:prstGeom prst="oval">
            <a:avLst/>
          </a:prstGeom>
          <a:solidFill>
            <a:srgbClr val="4A90D9">
              <a:alpha val="3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463040" y="2011680"/>
            <a:ext cx="73152" cy="73152"/>
          </a:xfrm>
          <a:prstGeom prst="oval">
            <a:avLst/>
          </a:prstGeom>
          <a:solidFill>
            <a:srgbClr val="4A90D9">
              <a:alpha val="3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2057400" y="2011680"/>
            <a:ext cx="73152" cy="73152"/>
          </a:xfrm>
          <a:prstGeom prst="oval">
            <a:avLst/>
          </a:prstGeom>
          <a:solidFill>
            <a:srgbClr val="4A90D9">
              <a:alpha val="3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2651760" y="2011680"/>
            <a:ext cx="73152" cy="73152"/>
          </a:xfrm>
          <a:prstGeom prst="oval">
            <a:avLst/>
          </a:prstGeom>
          <a:solidFill>
            <a:srgbClr val="4A90D9">
              <a:alpha val="3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74320" y="2788920"/>
            <a:ext cx="73152" cy="73152"/>
          </a:xfrm>
          <a:prstGeom prst="oval">
            <a:avLst/>
          </a:prstGeom>
          <a:solidFill>
            <a:srgbClr val="4A90D9">
              <a:alpha val="3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68680" y="2788920"/>
            <a:ext cx="73152" cy="73152"/>
          </a:xfrm>
          <a:prstGeom prst="oval">
            <a:avLst/>
          </a:prstGeom>
          <a:solidFill>
            <a:srgbClr val="4A90D9">
              <a:alpha val="3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463040" y="2788920"/>
            <a:ext cx="73152" cy="73152"/>
          </a:xfrm>
          <a:prstGeom prst="oval">
            <a:avLst/>
          </a:prstGeom>
          <a:solidFill>
            <a:srgbClr val="4A90D9">
              <a:alpha val="3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057400" y="2788920"/>
            <a:ext cx="73152" cy="73152"/>
          </a:xfrm>
          <a:prstGeom prst="oval">
            <a:avLst/>
          </a:prstGeom>
          <a:solidFill>
            <a:srgbClr val="4A90D9">
              <a:alpha val="3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651760" y="2788920"/>
            <a:ext cx="73152" cy="73152"/>
          </a:xfrm>
          <a:prstGeom prst="oval">
            <a:avLst/>
          </a:prstGeom>
          <a:solidFill>
            <a:srgbClr val="4A90D9">
              <a:alpha val="3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74320" y="3566160"/>
            <a:ext cx="73152" cy="73152"/>
          </a:xfrm>
          <a:prstGeom prst="oval">
            <a:avLst/>
          </a:prstGeom>
          <a:solidFill>
            <a:srgbClr val="4A90D9">
              <a:alpha val="3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868680" y="3566160"/>
            <a:ext cx="73152" cy="73152"/>
          </a:xfrm>
          <a:prstGeom prst="oval">
            <a:avLst/>
          </a:prstGeom>
          <a:solidFill>
            <a:srgbClr val="4A90D9">
              <a:alpha val="3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463040" y="3566160"/>
            <a:ext cx="73152" cy="73152"/>
          </a:xfrm>
          <a:prstGeom prst="oval">
            <a:avLst/>
          </a:prstGeom>
          <a:solidFill>
            <a:srgbClr val="4A90D9">
              <a:alpha val="3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057400" y="3566160"/>
            <a:ext cx="73152" cy="73152"/>
          </a:xfrm>
          <a:prstGeom prst="oval">
            <a:avLst/>
          </a:prstGeom>
          <a:solidFill>
            <a:srgbClr val="4A90D9">
              <a:alpha val="3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651760" y="3566160"/>
            <a:ext cx="73152" cy="73152"/>
          </a:xfrm>
          <a:prstGeom prst="oval">
            <a:avLst/>
          </a:prstGeom>
          <a:solidFill>
            <a:srgbClr val="4A90D9">
              <a:alpha val="3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274320" y="4343400"/>
            <a:ext cx="73152" cy="73152"/>
          </a:xfrm>
          <a:prstGeom prst="oval">
            <a:avLst/>
          </a:prstGeom>
          <a:solidFill>
            <a:srgbClr val="4A90D9">
              <a:alpha val="3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868680" y="4343400"/>
            <a:ext cx="73152" cy="73152"/>
          </a:xfrm>
          <a:prstGeom prst="oval">
            <a:avLst/>
          </a:prstGeom>
          <a:solidFill>
            <a:srgbClr val="4A90D9">
              <a:alpha val="3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463040" y="4343400"/>
            <a:ext cx="73152" cy="73152"/>
          </a:xfrm>
          <a:prstGeom prst="oval">
            <a:avLst/>
          </a:prstGeom>
          <a:solidFill>
            <a:srgbClr val="4A90D9">
              <a:alpha val="3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2057400" y="4343400"/>
            <a:ext cx="73152" cy="73152"/>
          </a:xfrm>
          <a:prstGeom prst="oval">
            <a:avLst/>
          </a:prstGeom>
          <a:solidFill>
            <a:srgbClr val="4A90D9">
              <a:alpha val="3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2651760" y="4343400"/>
            <a:ext cx="73152" cy="73152"/>
          </a:xfrm>
          <a:prstGeom prst="oval">
            <a:avLst/>
          </a:prstGeom>
          <a:solidFill>
            <a:srgbClr val="4A90D9">
              <a:alpha val="3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097280" y="548640"/>
            <a:ext cx="1280160" cy="1280160"/>
          </a:xfrm>
          <a:prstGeom prst="oval">
            <a:avLst/>
          </a:prstGeom>
          <a:solidFill>
            <a:srgbClr val="2E5EA6"/>
          </a:solidFill>
          <a:ln/>
        </p:spPr>
      </p:sp>
      <p:sp>
        <p:nvSpPr>
          <p:cNvPr id="35" name="Text 33"/>
          <p:cNvSpPr/>
          <p:nvPr/>
        </p:nvSpPr>
        <p:spPr>
          <a:xfrm>
            <a:off x="1097280" y="5486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</a:t>
            </a:r>
            <a:endParaRPr lang="en-US" sz="3600" dirty="0"/>
          </a:p>
        </p:txBody>
      </p:sp>
      <p:sp>
        <p:nvSpPr>
          <p:cNvPr id="36" name="Text 34"/>
          <p:cNvSpPr/>
          <p:nvPr/>
        </p:nvSpPr>
        <p:spPr>
          <a:xfrm>
            <a:off x="228600" y="219456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ANALYTICS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1440" y="35661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Power BI · Tableau · Excel · SQL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840480" y="91440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ANALYTICS</a:t>
            </a:r>
            <a:endParaRPr lang="en-US" sz="4400" dirty="0"/>
          </a:p>
        </p:txBody>
      </p:sp>
      <p:sp>
        <p:nvSpPr>
          <p:cNvPr id="39" name="Text 37"/>
          <p:cNvSpPr/>
          <p:nvPr/>
        </p:nvSpPr>
        <p:spPr>
          <a:xfrm>
            <a:off x="3840480" y="16916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400" kern="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4400" dirty="0"/>
          </a:p>
        </p:txBody>
      </p:sp>
      <p:sp>
        <p:nvSpPr>
          <p:cNvPr id="40" name="Text 38"/>
          <p:cNvSpPr/>
          <p:nvPr/>
        </p:nvSpPr>
        <p:spPr>
          <a:xfrm>
            <a:off x="3840480" y="25146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Workforce Intelligence Report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3840480" y="2926080"/>
            <a:ext cx="4937760" cy="27432"/>
          </a:xfrm>
          <a:prstGeom prst="rect">
            <a:avLst/>
          </a:prstGeom>
          <a:solidFill>
            <a:srgbClr val="2E5EA6"/>
          </a:solidFill>
          <a:ln/>
        </p:spPr>
      </p:sp>
      <p:sp>
        <p:nvSpPr>
          <p:cNvPr id="42" name="Text 40"/>
          <p:cNvSpPr/>
          <p:nvPr/>
        </p:nvSpPr>
        <p:spPr>
          <a:xfrm>
            <a:off x="3840480" y="30632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3840480" y="34290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532120" y="30632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50.21%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5532120" y="34290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Rate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223760" y="30632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$26K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7223760" y="34290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Income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3840480" y="38404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840480" y="4114800"/>
            <a:ext cx="1143000" cy="347472"/>
          </a:xfrm>
          <a:prstGeom prst="rect">
            <a:avLst/>
          </a:prstGeom>
          <a:solidFill>
            <a:srgbClr val="2E5EA6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3840480" y="411480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074920" y="4114800"/>
            <a:ext cx="1143000" cy="347472"/>
          </a:xfrm>
          <a:prstGeom prst="rect">
            <a:avLst/>
          </a:prstGeom>
          <a:solidFill>
            <a:srgbClr val="2E5EA6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5074920" y="411480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309360" y="4114800"/>
            <a:ext cx="1143000" cy="347472"/>
          </a:xfrm>
          <a:prstGeom prst="rect">
            <a:avLst/>
          </a:prstGeom>
          <a:solidFill>
            <a:srgbClr val="2E5EA6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6309360" y="411480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7543800" y="4114800"/>
            <a:ext cx="1143000" cy="347472"/>
          </a:xfrm>
          <a:prstGeom prst="rect">
            <a:avLst/>
          </a:prstGeom>
          <a:solidFill>
            <a:srgbClr val="2E5EA6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7543800" y="411480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3840480" y="47548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HR Analytics Project  |  2024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5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Scope, Objectives &amp; Methodology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18288"/>
          </a:xfrm>
          <a:prstGeom prst="rect">
            <a:avLst/>
          </a:prstGeom>
          <a:solidFill>
            <a:srgbClr val="2E5EA6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8755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OBJECTIVES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325880"/>
            <a:ext cx="4206240" cy="594360"/>
          </a:xfrm>
          <a:prstGeom prst="rect">
            <a:avLst/>
          </a:prstGeom>
          <a:solidFill>
            <a:srgbClr val="1E2F5C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325880"/>
            <a:ext cx="36576" cy="59436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37160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139903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workforce attrition patterns across departments, roles, and demographics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2011680"/>
            <a:ext cx="4206240" cy="594360"/>
          </a:xfrm>
          <a:prstGeom prst="rect">
            <a:avLst/>
          </a:prstGeom>
          <a:solidFill>
            <a:srgbClr val="1E2F5C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011680"/>
            <a:ext cx="36576" cy="59436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05740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208483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key drivers of employee turnover using multi-tool analytics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2697480"/>
            <a:ext cx="4206240" cy="594360"/>
          </a:xfrm>
          <a:prstGeom prst="rect">
            <a:avLst/>
          </a:prstGeom>
          <a:solidFill>
            <a:srgbClr val="1E2F5C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697480"/>
            <a:ext cx="36576" cy="59436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74320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14400" y="277063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interactive dashboards in Power BI, Tableau &amp; Excel for business insights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3383280"/>
            <a:ext cx="4206240" cy="594360"/>
          </a:xfrm>
          <a:prstGeom prst="rect">
            <a:avLst/>
          </a:prstGeom>
          <a:solidFill>
            <a:srgbClr val="1E2F5C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383280"/>
            <a:ext cx="36576" cy="59436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42900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14400" y="345643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optimized SQL queries to extract and validate HR KPIs from raw data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65760" y="4069080"/>
            <a:ext cx="4206240" cy="594360"/>
          </a:xfrm>
          <a:prstGeom prst="rect">
            <a:avLst/>
          </a:prstGeom>
          <a:solidFill>
            <a:srgbClr val="1E2F5C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4069080"/>
            <a:ext cx="36576" cy="59436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11480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14400" y="414223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actionable recommendations to reduce attrition and improve retention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846320" y="9875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46320" y="1325880"/>
            <a:ext cx="3931920" cy="914400"/>
          </a:xfrm>
          <a:prstGeom prst="rect">
            <a:avLst/>
          </a:prstGeom>
          <a:solidFill>
            <a:srgbClr val="1E2F5C"/>
          </a:solidFill>
          <a:ln/>
          <a:effectLst>
            <a:outerShdw sx="100000" sy="100000" kx="0" ky="0" algn="bl" rotWithShape="0" blurRad="63500" dist="25400" dir="8100000">
              <a:srgbClr val="000000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46320" y="1325880"/>
            <a:ext cx="3931920" cy="256032"/>
          </a:xfrm>
          <a:prstGeom prst="rect">
            <a:avLst/>
          </a:prstGeom>
          <a:solidFill>
            <a:srgbClr val="2E5EA6"/>
          </a:solidFill>
          <a:ln/>
        </p:spPr>
      </p:sp>
      <p:sp>
        <p:nvSpPr>
          <p:cNvPr id="30" name="Text 28"/>
          <p:cNvSpPr/>
          <p:nvPr/>
        </p:nvSpPr>
        <p:spPr>
          <a:xfrm>
            <a:off x="4937760" y="136245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HR_1.xlsx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37760" y="161848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 rows · 18 columns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937760" y="181965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employee demographics, job role,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education, satisfaction scores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846320" y="2331720"/>
            <a:ext cx="3931920" cy="914400"/>
          </a:xfrm>
          <a:prstGeom prst="rect">
            <a:avLst/>
          </a:prstGeom>
          <a:solidFill>
            <a:srgbClr val="1E2F5C"/>
          </a:solidFill>
          <a:ln/>
          <a:effectLst>
            <a:outerShdw sx="100000" sy="100000" kx="0" ky="0" algn="bl" rotWithShape="0" blurRad="63500" dist="25400" dir="8100000">
              <a:srgbClr val="000000">
                <a:alpha val="2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46320" y="2331720"/>
            <a:ext cx="3931920" cy="256032"/>
          </a:xfrm>
          <a:prstGeom prst="rect">
            <a:avLst/>
          </a:prstGeom>
          <a:solidFill>
            <a:srgbClr val="2E5EA6"/>
          </a:solidFill>
          <a:ln/>
        </p:spPr>
      </p:sp>
      <p:sp>
        <p:nvSpPr>
          <p:cNvPr id="35" name="Text 33"/>
          <p:cNvSpPr/>
          <p:nvPr/>
        </p:nvSpPr>
        <p:spPr>
          <a:xfrm>
            <a:off x="4937760" y="236829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HR_2.xlsx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937760" y="262432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 rows · 18 columns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937760" y="282549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Compensation, working years, overtime,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work-life balance, promotion history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846320" y="3383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46320" y="3703320"/>
            <a:ext cx="1920240" cy="530352"/>
          </a:xfrm>
          <a:prstGeom prst="rect">
            <a:avLst/>
          </a:prstGeom>
          <a:solidFill>
            <a:srgbClr val="1E2F5C"/>
          </a:solidFill>
          <a:ln/>
          <a:effectLst>
            <a:outerShdw sx="100000" sy="100000" kx="0" ky="0" algn="bl" rotWithShape="0" blurRad="38100" dist="12700" dir="8100000">
              <a:srgbClr val="000000">
                <a:alpha val="2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846320" y="3703320"/>
            <a:ext cx="36576" cy="530352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41" name="Text 39"/>
          <p:cNvSpPr/>
          <p:nvPr/>
        </p:nvSpPr>
        <p:spPr>
          <a:xfrm>
            <a:off x="4956048" y="373989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956048" y="397764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dashboards &amp; DAX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858000" y="3703320"/>
            <a:ext cx="1920240" cy="530352"/>
          </a:xfrm>
          <a:prstGeom prst="rect">
            <a:avLst/>
          </a:prstGeom>
          <a:solidFill>
            <a:srgbClr val="1E2F5C"/>
          </a:solidFill>
          <a:ln/>
          <a:effectLst>
            <a:outerShdw sx="100000" sy="100000" kx="0" ky="0" algn="bl" rotWithShape="0" blurRad="38100" dist="12700" dir="8100000">
              <a:srgbClr val="000000">
                <a:alpha val="2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858000" y="3703320"/>
            <a:ext cx="36576" cy="5303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5" name="Text 43"/>
          <p:cNvSpPr/>
          <p:nvPr/>
        </p:nvSpPr>
        <p:spPr>
          <a:xfrm>
            <a:off x="6967728" y="373989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967728" y="397764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analytics &amp; stories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846320" y="4325112"/>
            <a:ext cx="1920240" cy="530352"/>
          </a:xfrm>
          <a:prstGeom prst="rect">
            <a:avLst/>
          </a:prstGeom>
          <a:solidFill>
            <a:srgbClr val="1E2F5C"/>
          </a:solidFill>
          <a:ln/>
          <a:effectLst>
            <a:outerShdw sx="100000" sy="100000" kx="0" ky="0" algn="bl" rotWithShape="0" blurRad="38100" dist="12700" dir="8100000">
              <a:srgbClr val="000000">
                <a:alpha val="2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846320" y="4325112"/>
            <a:ext cx="36576" cy="5303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9" name="Text 47"/>
          <p:cNvSpPr/>
          <p:nvPr/>
        </p:nvSpPr>
        <p:spPr>
          <a:xfrm>
            <a:off x="4956048" y="4361688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956048" y="459943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tables &amp; charts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858000" y="4325112"/>
            <a:ext cx="1920240" cy="530352"/>
          </a:xfrm>
          <a:prstGeom prst="rect">
            <a:avLst/>
          </a:prstGeom>
          <a:solidFill>
            <a:srgbClr val="1E2F5C"/>
          </a:solidFill>
          <a:ln/>
          <a:effectLst>
            <a:outerShdw sx="100000" sy="100000" kx="0" ky="0" algn="bl" rotWithShape="0" blurRad="38100" dist="12700" dir="8100000">
              <a:srgbClr val="000000">
                <a:alpha val="2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858000" y="4325112"/>
            <a:ext cx="36576" cy="530352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53" name="Text 51"/>
          <p:cNvSpPr/>
          <p:nvPr/>
        </p:nvSpPr>
        <p:spPr>
          <a:xfrm>
            <a:off x="6967728" y="4361688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967728" y="459943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extraction &amp; KPI queries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2E5EA6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5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at a Glance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of workforce analytics across 50,000 employees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18288"/>
          </a:xfrm>
          <a:prstGeom prst="rect">
            <a:avLst/>
          </a:prstGeom>
          <a:solidFill>
            <a:srgbClr val="2E5EA6"/>
          </a:solidFill>
          <a:ln/>
        </p:spPr>
      </p:sp>
      <p:sp>
        <p:nvSpPr>
          <p:cNvPr id="6" name="Shape 4"/>
          <p:cNvSpPr/>
          <p:nvPr/>
        </p:nvSpPr>
        <p:spPr>
          <a:xfrm>
            <a:off x="182880" y="1005840"/>
            <a:ext cx="1691640" cy="914400"/>
          </a:xfrm>
          <a:prstGeom prst="rect">
            <a:avLst/>
          </a:prstGeom>
          <a:solidFill>
            <a:srgbClr val="1E2F5C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1005840"/>
            <a:ext cx="54864" cy="9144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1234440"/>
            <a:ext cx="457200" cy="457200"/>
          </a:xfrm>
          <a:prstGeom prst="oval">
            <a:avLst/>
          </a:prstGeom>
          <a:solidFill>
            <a:srgbClr val="4A90D9">
              <a:alpha val="2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1078992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68680" y="15544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Employees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956816" y="1005840"/>
            <a:ext cx="1691640" cy="914400"/>
          </a:xfrm>
          <a:prstGeom prst="rect">
            <a:avLst/>
          </a:prstGeom>
          <a:solidFill>
            <a:srgbClr val="1E2F5C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956816" y="1005840"/>
            <a:ext cx="54864" cy="9144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3" name="Shape 11"/>
          <p:cNvSpPr/>
          <p:nvPr/>
        </p:nvSpPr>
        <p:spPr>
          <a:xfrm>
            <a:off x="2093976" y="1234440"/>
            <a:ext cx="457200" cy="457200"/>
          </a:xfrm>
          <a:prstGeom prst="oval">
            <a:avLst/>
          </a:prstGeom>
          <a:solidFill>
            <a:srgbClr val="EF4444">
              <a:alpha val="2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2642616" y="1078992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50.21%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642616" y="15544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Rate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730752" y="1005840"/>
            <a:ext cx="1691640" cy="914400"/>
          </a:xfrm>
          <a:prstGeom prst="rect">
            <a:avLst/>
          </a:prstGeom>
          <a:solidFill>
            <a:srgbClr val="1E2F5C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730752" y="1005840"/>
            <a:ext cx="54864" cy="9144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Shape 16"/>
          <p:cNvSpPr/>
          <p:nvPr/>
        </p:nvSpPr>
        <p:spPr>
          <a:xfrm>
            <a:off x="3867912" y="1234440"/>
            <a:ext cx="457200" cy="457200"/>
          </a:xfrm>
          <a:prstGeom prst="oval">
            <a:avLst/>
          </a:prstGeom>
          <a:solidFill>
            <a:srgbClr val="10B981">
              <a:alpha val="2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4416552" y="1078992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$26,016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416552" y="15544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Income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504688" y="1005840"/>
            <a:ext cx="1691640" cy="914400"/>
          </a:xfrm>
          <a:prstGeom prst="rect">
            <a:avLst/>
          </a:prstGeom>
          <a:solidFill>
            <a:srgbClr val="1E2F5C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504688" y="1005840"/>
            <a:ext cx="54864" cy="914400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23" name="Shape 21"/>
          <p:cNvSpPr/>
          <p:nvPr/>
        </p:nvSpPr>
        <p:spPr>
          <a:xfrm>
            <a:off x="5641848" y="1234440"/>
            <a:ext cx="457200" cy="457200"/>
          </a:xfrm>
          <a:prstGeom prst="oval">
            <a:avLst/>
          </a:prstGeom>
          <a:solidFill>
            <a:srgbClr val="F0B429">
              <a:alpha val="25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6190488" y="1078992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38.97 yrs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190488" y="15544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Age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278624" y="1005840"/>
            <a:ext cx="1691640" cy="914400"/>
          </a:xfrm>
          <a:prstGeom prst="rect">
            <a:avLst/>
          </a:prstGeom>
          <a:solidFill>
            <a:srgbClr val="1E2F5C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278624" y="1005840"/>
            <a:ext cx="54864" cy="914400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28" name="Shape 26"/>
          <p:cNvSpPr/>
          <p:nvPr/>
        </p:nvSpPr>
        <p:spPr>
          <a:xfrm>
            <a:off x="7415784" y="1234440"/>
            <a:ext cx="457200" cy="457200"/>
          </a:xfrm>
          <a:prstGeom prst="oval">
            <a:avLst/>
          </a:prstGeom>
          <a:solidFill>
            <a:srgbClr val="00A8CC">
              <a:alpha val="25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7964424" y="1078992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115.43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964424" y="15544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Hourly Rate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74320" y="21031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RATE BY DEPARTMENT</a:t>
            </a:r>
            <a:endParaRPr lang="en-US" sz="950" dirty="0"/>
          </a:p>
        </p:txBody>
      </p:sp>
      <p:graphicFrame>
        <p:nvGraphicFramePr>
          <p:cNvPr id="32" name="Chart 0" descr=""/>
          <p:cNvGraphicFramePr/>
          <p:nvPr/>
        </p:nvGraphicFramePr>
        <p:xfrm>
          <a:off x="182880" y="2377440"/>
          <a:ext cx="429768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3" name="Text 30"/>
          <p:cNvSpPr/>
          <p:nvPr/>
        </p:nvSpPr>
        <p:spPr>
          <a:xfrm>
            <a:off x="4754880" y="21031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BY GENDER</a:t>
            </a:r>
            <a:endParaRPr lang="en-US" sz="950" dirty="0"/>
          </a:p>
        </p:txBody>
      </p:sp>
      <p:graphicFrame>
        <p:nvGraphicFramePr>
          <p:cNvPr id="34" name="Chart 1" descr=""/>
          <p:cNvGraphicFramePr/>
          <p:nvPr/>
        </p:nvGraphicFramePr>
        <p:xfrm>
          <a:off x="4663440" y="2377440"/>
          <a:ext cx="429768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5" name="Shape 31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2E5EA6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5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Business Intelligence — Attrition, Income &amp; Department Analytics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18288"/>
          </a:xfrm>
          <a:prstGeom prst="rect">
            <a:avLst/>
          </a:prstGeom>
          <a:solidFill>
            <a:srgbClr val="2E5EA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005840"/>
            <a:ext cx="6217920" cy="3931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28600" y="1005840"/>
            <a:ext cx="6217920" cy="3931920"/>
          </a:xfrm>
          <a:prstGeom prst="rect">
            <a:avLst/>
          </a:prstGeom>
          <a:ln w="19050">
            <a:solidFill>
              <a:srgbClr val="4A90D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675120" y="100584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HIGHLIGHTS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675120" y="1325880"/>
            <a:ext cx="2240280" cy="530352"/>
          </a:xfrm>
          <a:prstGeom prst="rect">
            <a:avLst/>
          </a:prstGeom>
          <a:solidFill>
            <a:srgbClr val="1E2F5C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75120" y="1325880"/>
            <a:ext cx="36576" cy="530352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11" name="Text 8"/>
          <p:cNvSpPr/>
          <p:nvPr/>
        </p:nvSpPr>
        <p:spPr>
          <a:xfrm>
            <a:off x="6784848" y="1362456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784848" y="1581912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employees, attrition rate, avg income, hourly rate &amp; active staff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6675120" y="1938528"/>
            <a:ext cx="2240280" cy="530352"/>
          </a:xfrm>
          <a:prstGeom prst="rect">
            <a:avLst/>
          </a:prstGeom>
          <a:solidFill>
            <a:srgbClr val="1E2F5C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675120" y="1938528"/>
            <a:ext cx="36576" cy="5303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5" name="Text 12"/>
          <p:cNvSpPr/>
          <p:nvPr/>
        </p:nvSpPr>
        <p:spPr>
          <a:xfrm>
            <a:off x="6784848" y="1975104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 Analysis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784848" y="219456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rate by department — R&amp;D leads at 51.2%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675120" y="2551176"/>
            <a:ext cx="2240280" cy="530352"/>
          </a:xfrm>
          <a:prstGeom prst="rect">
            <a:avLst/>
          </a:prstGeom>
          <a:solidFill>
            <a:srgbClr val="1E2F5C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675120" y="2551176"/>
            <a:ext cx="36576" cy="5303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6"/>
          <p:cNvSpPr/>
          <p:nvPr/>
        </p:nvSpPr>
        <p:spPr>
          <a:xfrm>
            <a:off x="6784848" y="258775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Band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784848" y="280720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Donut chart: Low / Medium / High income distribution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6675120" y="3163824"/>
            <a:ext cx="2240280" cy="530352"/>
          </a:xfrm>
          <a:prstGeom prst="rect">
            <a:avLst/>
          </a:prstGeom>
          <a:solidFill>
            <a:srgbClr val="1E2F5C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675120" y="3163824"/>
            <a:ext cx="36576" cy="5303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3" name="Text 20"/>
          <p:cNvSpPr/>
          <p:nvPr/>
        </p:nvSpPr>
        <p:spPr>
          <a:xfrm>
            <a:off x="6784848" y="320040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Role Table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784848" y="3419856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working years, income &amp; attrition by all 10 roles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6675120" y="3776472"/>
            <a:ext cx="2240280" cy="530352"/>
          </a:xfrm>
          <a:prstGeom prst="rect">
            <a:avLst/>
          </a:prstGeom>
          <a:solidFill>
            <a:srgbClr val="1E2F5C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675120" y="3776472"/>
            <a:ext cx="36576" cy="530352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27" name="Text 24"/>
          <p:cNvSpPr/>
          <p:nvPr/>
        </p:nvSpPr>
        <p:spPr>
          <a:xfrm>
            <a:off x="6784848" y="381304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Overtime Impact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6784848" y="4032504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count split by overtime status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675120" y="4389120"/>
            <a:ext cx="2240280" cy="530352"/>
          </a:xfrm>
          <a:prstGeom prst="rect">
            <a:avLst/>
          </a:prstGeom>
          <a:solidFill>
            <a:srgbClr val="1E2F5C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6675120" y="4389120"/>
            <a:ext cx="36576" cy="530352"/>
          </a:xfrm>
          <a:prstGeom prst="rect">
            <a:avLst/>
          </a:prstGeom>
          <a:solidFill>
            <a:srgbClr val="A8B8D0"/>
          </a:solidFill>
          <a:ln/>
        </p:spPr>
      </p:sp>
      <p:sp>
        <p:nvSpPr>
          <p:cNvPr id="31" name="Text 28"/>
          <p:cNvSpPr/>
          <p:nvPr/>
        </p:nvSpPr>
        <p:spPr>
          <a:xfrm>
            <a:off x="6784848" y="4425696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6784848" y="4645152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slicers for dept, gender &amp; job role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2E5EA6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5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Dashboard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Analytics — Promotion Patterns, Income Distribution &amp; Gender Insights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18288"/>
          </a:xfrm>
          <a:prstGeom prst="rect">
            <a:avLst/>
          </a:prstGeom>
          <a:solidFill>
            <a:srgbClr val="2E5EA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005840"/>
            <a:ext cx="6217920" cy="3931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28600" y="1005840"/>
            <a:ext cx="6217920" cy="3931920"/>
          </a:xfrm>
          <a:prstGeom prst="rect">
            <a:avLst/>
          </a:prstGeom>
          <a:ln w="19050">
            <a:solidFill>
              <a:srgbClr val="00A8C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675120" y="100584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HIGHLIGHTS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675120" y="1325880"/>
            <a:ext cx="2240280" cy="530352"/>
          </a:xfrm>
          <a:prstGeom prst="rect">
            <a:avLst/>
          </a:prstGeom>
          <a:solidFill>
            <a:srgbClr val="1E2F5C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75120" y="1325880"/>
            <a:ext cx="36576" cy="530352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11" name="Text 8"/>
          <p:cNvSpPr/>
          <p:nvPr/>
        </p:nvSpPr>
        <p:spPr>
          <a:xfrm>
            <a:off x="6784848" y="1362456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WLB by Role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784848" y="1581912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Work-life balance scores for all 10 job roles compared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6675120" y="1938528"/>
            <a:ext cx="2240280" cy="530352"/>
          </a:xfrm>
          <a:prstGeom prst="rect">
            <a:avLst/>
          </a:prstGeom>
          <a:solidFill>
            <a:srgbClr val="1E2F5C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675120" y="1938528"/>
            <a:ext cx="36576" cy="530352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15" name="Text 12"/>
          <p:cNvSpPr/>
          <p:nvPr/>
        </p:nvSpPr>
        <p:spPr>
          <a:xfrm>
            <a:off x="6784848" y="1975104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Chart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784848" y="219456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rate vs monthly income bins (0K to 50K+)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675120" y="2551176"/>
            <a:ext cx="2240280" cy="530352"/>
          </a:xfrm>
          <a:prstGeom prst="rect">
            <a:avLst/>
          </a:prstGeom>
          <a:solidFill>
            <a:srgbClr val="1E2F5C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675120" y="2551176"/>
            <a:ext cx="36576" cy="5303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9" name="Text 16"/>
          <p:cNvSpPr/>
          <p:nvPr/>
        </p:nvSpPr>
        <p:spPr>
          <a:xfrm>
            <a:off x="6784848" y="258775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 vs Attrition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784848" y="280720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chart: years since promotion vs attrition rate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6675120" y="3163824"/>
            <a:ext cx="2240280" cy="530352"/>
          </a:xfrm>
          <a:prstGeom prst="rect">
            <a:avLst/>
          </a:prstGeom>
          <a:solidFill>
            <a:srgbClr val="1E2F5C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675120" y="3163824"/>
            <a:ext cx="36576" cy="5303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3" name="Text 20"/>
          <p:cNvSpPr/>
          <p:nvPr/>
        </p:nvSpPr>
        <p:spPr>
          <a:xfrm>
            <a:off x="6784848" y="320040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Working Years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784848" y="3419856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bar: average tenure by department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6675120" y="3776472"/>
            <a:ext cx="2240280" cy="530352"/>
          </a:xfrm>
          <a:prstGeom prst="rect">
            <a:avLst/>
          </a:prstGeom>
          <a:solidFill>
            <a:srgbClr val="1E2F5C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675120" y="3776472"/>
            <a:ext cx="36576" cy="5303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7" name="Text 24"/>
          <p:cNvSpPr/>
          <p:nvPr/>
        </p:nvSpPr>
        <p:spPr>
          <a:xfrm>
            <a:off x="6784848" y="381304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Attrition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6784848" y="4032504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Female: 12,560 | Male: 12,545 attrition counts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675120" y="4389120"/>
            <a:ext cx="2240280" cy="530352"/>
          </a:xfrm>
          <a:prstGeom prst="rect">
            <a:avLst/>
          </a:prstGeom>
          <a:solidFill>
            <a:srgbClr val="1E2F5C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6675120" y="4389120"/>
            <a:ext cx="36576" cy="530352"/>
          </a:xfrm>
          <a:prstGeom prst="rect">
            <a:avLst/>
          </a:prstGeom>
          <a:solidFill>
            <a:srgbClr val="A8B8D0"/>
          </a:solidFill>
          <a:ln/>
        </p:spPr>
      </p:sp>
      <p:sp>
        <p:nvSpPr>
          <p:cNvPr id="31" name="Text 28"/>
          <p:cNvSpPr/>
          <p:nvPr/>
        </p:nvSpPr>
        <p:spPr>
          <a:xfrm>
            <a:off x="6784848" y="4425696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Panel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6784848" y="4645152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Slicers: Education Field, Gender, Department, Job Role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2E5EA6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5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Dashboard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Pivot-Driven Analytics — Attrition, Gender Split &amp; Working Years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18288"/>
          </a:xfrm>
          <a:prstGeom prst="rect">
            <a:avLst/>
          </a:prstGeom>
          <a:solidFill>
            <a:srgbClr val="2E5EA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005840"/>
            <a:ext cx="6217920" cy="3931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28600" y="1005840"/>
            <a:ext cx="6217920" cy="3931920"/>
          </a:xfrm>
          <a:prstGeom prst="rect">
            <a:avLst/>
          </a:prstGeom>
          <a:ln w="19050">
            <a:solidFill>
              <a:srgbClr val="10B98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675120" y="100584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HIGHLIGHTS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675120" y="1325880"/>
            <a:ext cx="2240280" cy="530352"/>
          </a:xfrm>
          <a:prstGeom prst="rect">
            <a:avLst/>
          </a:prstGeom>
          <a:solidFill>
            <a:srgbClr val="1E2F5C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75120" y="1325880"/>
            <a:ext cx="36576" cy="5303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8"/>
          <p:cNvSpPr/>
          <p:nvPr/>
        </p:nvSpPr>
        <p:spPr>
          <a:xfrm>
            <a:off x="6784848" y="1362456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Row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784848" y="1581912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employees (50K), avg male rate, attrition &amp; avg income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6675120" y="1938528"/>
            <a:ext cx="2240280" cy="530352"/>
          </a:xfrm>
          <a:prstGeom prst="rect">
            <a:avLst/>
          </a:prstGeom>
          <a:solidFill>
            <a:srgbClr val="1E2F5C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675120" y="1938528"/>
            <a:ext cx="36576" cy="5303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5" name="Text 12"/>
          <p:cNvSpPr/>
          <p:nvPr/>
        </p:nvSpPr>
        <p:spPr>
          <a:xfrm>
            <a:off x="6784848" y="1975104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 Attrition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784848" y="219456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chart showing attrition rate per department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675120" y="2551176"/>
            <a:ext cx="2240280" cy="530352"/>
          </a:xfrm>
          <a:prstGeom prst="rect">
            <a:avLst/>
          </a:prstGeom>
          <a:solidFill>
            <a:srgbClr val="1E2F5C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675120" y="2551176"/>
            <a:ext cx="36576" cy="530352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19" name="Text 16"/>
          <p:cNvSpPr/>
          <p:nvPr/>
        </p:nvSpPr>
        <p:spPr>
          <a:xfrm>
            <a:off x="6784848" y="258775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Split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784848" y="280720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chart: near-equal male/female distribution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6675120" y="3163824"/>
            <a:ext cx="2240280" cy="530352"/>
          </a:xfrm>
          <a:prstGeom prst="rect">
            <a:avLst/>
          </a:prstGeom>
          <a:solidFill>
            <a:srgbClr val="1E2F5C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675120" y="3163824"/>
            <a:ext cx="36576" cy="530352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23" name="Text 20"/>
          <p:cNvSpPr/>
          <p:nvPr/>
        </p:nvSpPr>
        <p:spPr>
          <a:xfrm>
            <a:off x="6784848" y="320040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Attrition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784848" y="3419856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chart: attrition rate vs monthly income ranges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6675120" y="3776472"/>
            <a:ext cx="2240280" cy="530352"/>
          </a:xfrm>
          <a:prstGeom prst="rect">
            <a:avLst/>
          </a:prstGeom>
          <a:solidFill>
            <a:srgbClr val="1E2F5C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675120" y="3776472"/>
            <a:ext cx="36576" cy="5303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7" name="Text 24"/>
          <p:cNvSpPr/>
          <p:nvPr/>
        </p:nvSpPr>
        <p:spPr>
          <a:xfrm>
            <a:off x="6784848" y="381304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WLB by Role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6784848" y="4032504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bar comparing work-life balance scores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675120" y="4389120"/>
            <a:ext cx="2240280" cy="530352"/>
          </a:xfrm>
          <a:prstGeom prst="rect">
            <a:avLst/>
          </a:prstGeom>
          <a:solidFill>
            <a:srgbClr val="1E2F5C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6675120" y="4389120"/>
            <a:ext cx="36576" cy="530352"/>
          </a:xfrm>
          <a:prstGeom prst="rect">
            <a:avLst/>
          </a:prstGeom>
          <a:solidFill>
            <a:srgbClr val="A8B8D0"/>
          </a:solidFill>
          <a:ln/>
        </p:spPr>
      </p:sp>
      <p:sp>
        <p:nvSpPr>
          <p:cNvPr id="31" name="Text 28"/>
          <p:cNvSpPr/>
          <p:nvPr/>
        </p:nvSpPr>
        <p:spPr>
          <a:xfrm>
            <a:off x="6784848" y="4425696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Slicers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6784848" y="4645152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Department, Gender, EducationField, JobRole slicers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2E5EA6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5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Analysis — Part 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extraction, KPI computation &amp; joined queries on HR_1 and HR_2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18288"/>
          </a:xfrm>
          <a:prstGeom prst="rect">
            <a:avLst/>
          </a:prstGeom>
          <a:solidFill>
            <a:srgbClr val="2E5EA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005840"/>
            <a:ext cx="4114800" cy="19659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28600" y="1005840"/>
            <a:ext cx="4114800" cy="1965960"/>
          </a:xfrm>
          <a:prstGeom prst="rect">
            <a:avLst/>
          </a:prstGeom>
          <a:ln w="12700">
            <a:solidFill>
              <a:srgbClr val="4A90D9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3063240"/>
            <a:ext cx="4114800" cy="187452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28600" y="3063240"/>
            <a:ext cx="4114800" cy="1874520"/>
          </a:xfrm>
          <a:prstGeom prst="rect">
            <a:avLst/>
          </a:prstGeom>
          <a:ln w="12700">
            <a:solidFill>
              <a:srgbClr val="4A90D9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572000" y="100584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COVERED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4572000" y="1325880"/>
            <a:ext cx="4297680" cy="384048"/>
          </a:xfrm>
          <a:prstGeom prst="rect">
            <a:avLst/>
          </a:prstGeom>
          <a:solidFill>
            <a:srgbClr val="1E2F5C"/>
          </a:solidFill>
          <a:ln/>
          <a:effectLst>
            <a:outerShdw sx="100000" sy="100000" kx="0" ky="0" algn="bl" rotWithShape="0" blurRad="38100" dist="12700" dir="8100000">
              <a:srgbClr val="000000">
                <a:alpha val="20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4645152" y="135331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B4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COUNT(*)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6629400" y="135331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employee headcount from HR_1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4572000" y="1783080"/>
            <a:ext cx="4297680" cy="384048"/>
          </a:xfrm>
          <a:prstGeom prst="rect">
            <a:avLst/>
          </a:prstGeom>
          <a:solidFill>
            <a:srgbClr val="1E2F5C"/>
          </a:solidFill>
          <a:ln/>
          <a:effectLst>
            <a:outerShdw sx="100000" sy="100000" kx="0" ky="0" algn="bl" rotWithShape="0" blurRad="38100" dist="12700" dir="8100000">
              <a:srgbClr val="000000">
                <a:alpha val="20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4645152" y="181051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B4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Attrition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6629400" y="181051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count — Yes vs No split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4572000" y="2240280"/>
            <a:ext cx="4297680" cy="384048"/>
          </a:xfrm>
          <a:prstGeom prst="rect">
            <a:avLst/>
          </a:prstGeom>
          <a:solidFill>
            <a:srgbClr val="1E2F5C"/>
          </a:solidFill>
          <a:ln/>
          <a:effectLst>
            <a:outerShdw sx="100000" sy="100000" kx="0" ky="0" algn="bl" rotWithShape="0" blurRad="38100" dist="12700" dir="8100000">
              <a:srgbClr val="000000">
                <a:alpha val="20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4645152" y="226771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B4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AVG(MonthlyIncome)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6629400" y="226771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salary from HR_2 table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4572000" y="2697480"/>
            <a:ext cx="4297680" cy="384048"/>
          </a:xfrm>
          <a:prstGeom prst="rect">
            <a:avLst/>
          </a:prstGeom>
          <a:solidFill>
            <a:srgbClr val="1E2F5C"/>
          </a:solidFill>
          <a:ln/>
          <a:effectLst>
            <a:outerShdw sx="100000" sy="100000" kx="0" ky="0" algn="bl" rotWithShape="0" blurRad="38100" dist="12700" dir="8100000">
              <a:srgbClr val="000000">
                <a:alpha val="20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4645152" y="272491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B4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COUNT(CASE WHEN...)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6629400" y="272491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count per department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4572000" y="3154680"/>
            <a:ext cx="4297680" cy="384048"/>
          </a:xfrm>
          <a:prstGeom prst="rect">
            <a:avLst/>
          </a:prstGeom>
          <a:solidFill>
            <a:srgbClr val="1E2F5C"/>
          </a:solidFill>
          <a:ln/>
          <a:effectLst>
            <a:outerShdw sx="100000" sy="100000" kx="0" ky="0" algn="bl" rotWithShape="0" blurRad="38100" dist="12700" dir="8100000">
              <a:srgbClr val="000000">
                <a:alpha val="20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4645152" y="318211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B4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OverTime='Yes'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6629400" y="318211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Overtime employee count filter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4572000" y="3611880"/>
            <a:ext cx="4297680" cy="384048"/>
          </a:xfrm>
          <a:prstGeom prst="rect">
            <a:avLst/>
          </a:prstGeom>
          <a:solidFill>
            <a:srgbClr val="1E2F5C"/>
          </a:solidFill>
          <a:ln/>
          <a:effectLst>
            <a:outerShdw sx="100000" sy="100000" kx="0" ky="0" algn="bl" rotWithShape="0" blurRad="38100" dist="12700" dir="8100000">
              <a:srgbClr val="000000">
                <a:alpha val="20000"/>
              </a:srgbClr>
            </a:outerShdw>
          </a:effectLst>
        </p:spPr>
      </p:sp>
      <p:sp>
        <p:nvSpPr>
          <p:cNvPr id="27" name="Text 23"/>
          <p:cNvSpPr/>
          <p:nvPr/>
        </p:nvSpPr>
        <p:spPr>
          <a:xfrm>
            <a:off x="4645152" y="363931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B4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Income DESC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6629400" y="363931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earner by employee ID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4572000" y="4069080"/>
            <a:ext cx="4297680" cy="384048"/>
          </a:xfrm>
          <a:prstGeom prst="rect">
            <a:avLst/>
          </a:prstGeom>
          <a:solidFill>
            <a:srgbClr val="1E2F5C"/>
          </a:solidFill>
          <a:ln/>
          <a:effectLst>
            <a:outerShdw sx="100000" sy="100000" kx="0" ky="0" algn="bl" rotWithShape="0" blurRad="38100" dist="12700" dir="8100000">
              <a:srgbClr val="000000">
                <a:alpha val="20000"/>
              </a:srgbClr>
            </a:outerShdw>
          </a:effectLst>
        </p:spPr>
      </p:sp>
      <p:sp>
        <p:nvSpPr>
          <p:cNvPr id="30" name="Text 26"/>
          <p:cNvSpPr/>
          <p:nvPr/>
        </p:nvSpPr>
        <p:spPr>
          <a:xfrm>
            <a:off x="4645152" y="409651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B4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ON EmployeeNumber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6629400" y="409651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inner join HR_1 × HR_2</a:t>
            </a:r>
            <a:endParaRPr lang="en-US" sz="900" dirty="0"/>
          </a:p>
        </p:txBody>
      </p:sp>
      <p:sp>
        <p:nvSpPr>
          <p:cNvPr id="32" name="Shape 28"/>
          <p:cNvSpPr/>
          <p:nvPr/>
        </p:nvSpPr>
        <p:spPr>
          <a:xfrm>
            <a:off x="4572000" y="4526280"/>
            <a:ext cx="4297680" cy="384048"/>
          </a:xfrm>
          <a:prstGeom prst="rect">
            <a:avLst/>
          </a:prstGeom>
          <a:solidFill>
            <a:srgbClr val="1E2F5C"/>
          </a:solidFill>
          <a:ln/>
          <a:effectLst>
            <a:outerShdw sx="100000" sy="100000" kx="0" ky="0" algn="bl" rotWithShape="0" blurRad="38100" dist="12700" dir="8100000">
              <a:srgbClr val="000000">
                <a:alpha val="20000"/>
              </a:srgbClr>
            </a:outerShdw>
          </a:effectLst>
        </p:spPr>
      </p:sp>
      <p:sp>
        <p:nvSpPr>
          <p:cNvPr id="33" name="Text 29"/>
          <p:cNvSpPr/>
          <p:nvPr/>
        </p:nvSpPr>
        <p:spPr>
          <a:xfrm>
            <a:off x="4645152" y="455371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B4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Attrition Rate %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6629400" y="455371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COUNT(Yes)*100.0/COUNT(*) formula</a:t>
            </a:r>
            <a:endParaRPr lang="en-US" sz="900" dirty="0"/>
          </a:p>
        </p:txBody>
      </p:sp>
      <p:sp>
        <p:nvSpPr>
          <p:cNvPr id="35" name="Shape 31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2E5EA6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5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Analysis — Part 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aggregations, KPI analysis &amp; promotion-attrition relationships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18288"/>
          </a:xfrm>
          <a:prstGeom prst="rect">
            <a:avLst/>
          </a:prstGeom>
          <a:solidFill>
            <a:srgbClr val="2E5EA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005840"/>
            <a:ext cx="4114800" cy="19659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28600" y="1005840"/>
            <a:ext cx="4114800" cy="1965960"/>
          </a:xfrm>
          <a:prstGeom prst="rect">
            <a:avLst/>
          </a:prstGeom>
          <a:ln w="12700">
            <a:solidFill>
              <a:srgbClr val="00A8CC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3063240"/>
            <a:ext cx="4114800" cy="187452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28600" y="3063240"/>
            <a:ext cx="4114800" cy="1874520"/>
          </a:xfrm>
          <a:prstGeom prst="rect">
            <a:avLst/>
          </a:prstGeom>
          <a:ln w="12700">
            <a:solidFill>
              <a:srgbClr val="00A8CC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572000" y="100584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QUERIES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4572000" y="1325880"/>
            <a:ext cx="4297680" cy="530352"/>
          </a:xfrm>
          <a:prstGeom prst="rect">
            <a:avLst/>
          </a:prstGeom>
          <a:solidFill>
            <a:srgbClr val="1E2F5C"/>
          </a:solidFill>
          <a:ln/>
          <a:effectLst>
            <a:outerShdw sx="100000" sy="100000" kx="0" ky="0" algn="bl" rotWithShape="0" blurRad="38100" dist="12700" dir="8100000">
              <a:srgbClr val="000000">
                <a:alpha val="20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4645152" y="136245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B4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AVG/MIN/MAX/SUM Income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4645152" y="160020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stats grouped by attrition status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4572000" y="1938528"/>
            <a:ext cx="4297680" cy="530352"/>
          </a:xfrm>
          <a:prstGeom prst="rect">
            <a:avLst/>
          </a:prstGeom>
          <a:solidFill>
            <a:srgbClr val="1E2F5C"/>
          </a:solidFill>
          <a:ln/>
          <a:effectLst>
            <a:outerShdw sx="100000" sy="100000" kx="0" ky="0" algn="bl" rotWithShape="0" blurRad="38100" dist="12700" dir="8100000">
              <a:srgbClr val="000000">
                <a:alpha val="20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4645152" y="197510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B4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Attrition Rate %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4645152" y="2212848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Rounded attrition % with COUNT(CASE WHEN)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4572000" y="2551176"/>
            <a:ext cx="4297680" cy="530352"/>
          </a:xfrm>
          <a:prstGeom prst="rect">
            <a:avLst/>
          </a:prstGeom>
          <a:solidFill>
            <a:srgbClr val="1E2F5C"/>
          </a:solidFill>
          <a:ln/>
          <a:effectLst>
            <a:outerShdw sx="100000" sy="100000" kx="0" ky="0" algn="bl" rotWithShape="0" blurRad="38100" dist="12700" dir="8100000">
              <a:srgbClr val="000000">
                <a:alpha val="20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4645152" y="258775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B4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 Working Years / Dept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4645152" y="2825496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ROUND(AVG(TotalWorkingYears),2) by dept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4572000" y="3163824"/>
            <a:ext cx="4297680" cy="530352"/>
          </a:xfrm>
          <a:prstGeom prst="rect">
            <a:avLst/>
          </a:prstGeom>
          <a:solidFill>
            <a:srgbClr val="1E2F5C"/>
          </a:solidFill>
          <a:ln/>
          <a:effectLst>
            <a:outerShdw sx="100000" sy="100000" kx="0" ky="0" algn="bl" rotWithShape="0" blurRad="38100" dist="12700" dir="8100000">
              <a:srgbClr val="000000">
                <a:alpha val="20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4645152" y="320040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B4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JobRole vs WLB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4645152" y="3438144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Work-life balance average per job role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4572000" y="3776472"/>
            <a:ext cx="4297680" cy="530352"/>
          </a:xfrm>
          <a:prstGeom prst="rect">
            <a:avLst/>
          </a:prstGeom>
          <a:solidFill>
            <a:srgbClr val="1E2F5C"/>
          </a:solidFill>
          <a:ln/>
          <a:effectLst>
            <a:outerShdw sx="100000" sy="100000" kx="0" ky="0" algn="bl" rotWithShape="0" blurRad="38100" dist="12700" dir="8100000">
              <a:srgbClr val="000000">
                <a:alpha val="20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4645152" y="381304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B4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YearsSinceLastPromotion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4645152" y="4050792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rate by promotion recency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4572000" y="4389120"/>
            <a:ext cx="4297680" cy="530352"/>
          </a:xfrm>
          <a:prstGeom prst="rect">
            <a:avLst/>
          </a:prstGeom>
          <a:solidFill>
            <a:srgbClr val="1E2F5C"/>
          </a:solidFill>
          <a:ln/>
          <a:effectLst>
            <a:outerShdw sx="100000" sy="100000" kx="0" ky="0" algn="bl" rotWithShape="0" blurRad="38100" dist="12700" dir="8100000">
              <a:srgbClr val="000000">
                <a:alpha val="20000"/>
              </a:srgbClr>
            </a:outerShdw>
          </a:effectLst>
        </p:spPr>
      </p:sp>
      <p:sp>
        <p:nvSpPr>
          <p:cNvPr id="27" name="Text 23"/>
          <p:cNvSpPr/>
          <p:nvPr/>
        </p:nvSpPr>
        <p:spPr>
          <a:xfrm>
            <a:off x="4645152" y="442569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B4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COUNT(*) * 100.0</a:t>
            </a:r>
            <a:endParaRPr lang="en-US" sz="950" dirty="0"/>
          </a:p>
        </p:txBody>
      </p:sp>
      <p:sp>
        <p:nvSpPr>
          <p:cNvPr id="28" name="Text 24"/>
          <p:cNvSpPr/>
          <p:nvPr/>
        </p:nvSpPr>
        <p:spPr>
          <a:xfrm>
            <a:off x="4645152" y="466344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 percentage calculation pattern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2E5EA6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5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Deep-Dive Analysis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drivers, income patterns &amp; workforce tenure insights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18288"/>
          </a:xfrm>
          <a:prstGeom prst="rect">
            <a:avLst/>
          </a:prstGeom>
          <a:solidFill>
            <a:srgbClr val="2E5EA6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100584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RATE BY DEPARTMENT (%)</a:t>
            </a:r>
            <a:endParaRPr lang="en-US" sz="8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182880" y="1261872"/>
          <a:ext cx="420624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4572000" y="100584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MONTHLY INCOME BY JOB ROLE ($)</a:t>
            </a:r>
            <a:endParaRPr lang="en-US" sz="850" dirty="0"/>
          </a:p>
        </p:txBody>
      </p:sp>
      <p:graphicFrame>
        <p:nvGraphicFramePr>
          <p:cNvPr id="9" name="Chart 1" descr=""/>
          <p:cNvGraphicFramePr/>
          <p:nvPr/>
        </p:nvGraphicFramePr>
        <p:xfrm>
          <a:off x="4572000" y="1261872"/>
          <a:ext cx="429768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 6"/>
          <p:cNvSpPr/>
          <p:nvPr/>
        </p:nvSpPr>
        <p:spPr>
          <a:xfrm>
            <a:off x="182880" y="329184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TOTAL WORKING YEARS BY DEPARTMENT</a:t>
            </a:r>
            <a:endParaRPr lang="en-US" sz="850" dirty="0"/>
          </a:p>
        </p:txBody>
      </p:sp>
      <p:graphicFrame>
        <p:nvGraphicFramePr>
          <p:cNvPr id="11" name="Chart 2" descr=""/>
          <p:cNvGraphicFramePr/>
          <p:nvPr/>
        </p:nvGraphicFramePr>
        <p:xfrm>
          <a:off x="182880" y="3547872"/>
          <a:ext cx="4206240" cy="1371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 7"/>
          <p:cNvSpPr/>
          <p:nvPr/>
        </p:nvSpPr>
        <p:spPr>
          <a:xfrm>
            <a:off x="4572000" y="329184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WORK-LIFE BALANCE BY JOB ROLE (Avg Score)</a:t>
            </a:r>
            <a:endParaRPr lang="en-US" sz="850" dirty="0"/>
          </a:p>
        </p:txBody>
      </p:sp>
      <p:graphicFrame>
        <p:nvGraphicFramePr>
          <p:cNvPr id="13" name="Chart 3" descr=""/>
          <p:cNvGraphicFramePr/>
          <p:nvPr/>
        </p:nvGraphicFramePr>
        <p:xfrm>
          <a:off x="4572000" y="3547872"/>
          <a:ext cx="4297680" cy="1371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Shape 8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2E5EA6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5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Insights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patterns uncovered from HR analytics across all tools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18288"/>
          </a:xfrm>
          <a:prstGeom prst="rect">
            <a:avLst/>
          </a:prstGeom>
          <a:solidFill>
            <a:srgbClr val="2E5EA6"/>
          </a:solidFill>
          <a:ln/>
        </p:spPr>
      </p:sp>
      <p:sp>
        <p:nvSpPr>
          <p:cNvPr id="6" name="Shape 4"/>
          <p:cNvSpPr/>
          <p:nvPr/>
        </p:nvSpPr>
        <p:spPr>
          <a:xfrm>
            <a:off x="182880" y="1005840"/>
            <a:ext cx="4297680" cy="1234440"/>
          </a:xfrm>
          <a:prstGeom prst="rect">
            <a:avLst/>
          </a:prstGeom>
          <a:solidFill>
            <a:srgbClr val="1E2F5C"/>
          </a:solidFill>
          <a:ln/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1005840"/>
            <a:ext cx="54864" cy="12344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Shape 6"/>
          <p:cNvSpPr/>
          <p:nvPr/>
        </p:nvSpPr>
        <p:spPr>
          <a:xfrm>
            <a:off x="292608" y="1115568"/>
            <a:ext cx="457200" cy="457200"/>
          </a:xfrm>
          <a:prstGeom prst="oval">
            <a:avLst/>
          </a:prstGeom>
          <a:solidFill>
            <a:srgbClr val="EF4444">
              <a:alpha val="3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292608" y="1115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41248" y="10789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Attrition Rate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41248" y="135331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50.21% overall attrition — R&amp;D dept leads at 51.2%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74320" y="1627632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equal turnover across all departments suggests systemic, org-wide issue rather than department-specific problems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82880" y="2359152"/>
            <a:ext cx="4297680" cy="1234440"/>
          </a:xfrm>
          <a:prstGeom prst="rect">
            <a:avLst/>
          </a:prstGeom>
          <a:solidFill>
            <a:srgbClr val="1E2F5C"/>
          </a:solidFill>
          <a:ln/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82880" y="2359152"/>
            <a:ext cx="54864" cy="1234440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15" name="Shape 13"/>
          <p:cNvSpPr/>
          <p:nvPr/>
        </p:nvSpPr>
        <p:spPr>
          <a:xfrm>
            <a:off x="292608" y="2468880"/>
            <a:ext cx="457200" cy="457200"/>
          </a:xfrm>
          <a:prstGeom prst="oval">
            <a:avLst/>
          </a:prstGeom>
          <a:solidFill>
            <a:srgbClr val="F0B429">
              <a:alpha val="3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292608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41248" y="243230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&amp; Attrition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41248" y="2706624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monthly income: $26,016 with minimal role variation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74320" y="2980944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income range ($25.8K–$26.4K) across roles suggests compensation alone is not a primary attrition driver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82880" y="3712464"/>
            <a:ext cx="4297680" cy="1234440"/>
          </a:xfrm>
          <a:prstGeom prst="rect">
            <a:avLst/>
          </a:prstGeom>
          <a:solidFill>
            <a:srgbClr val="1E2F5C"/>
          </a:solidFill>
          <a:ln/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82880" y="3712464"/>
            <a:ext cx="54864" cy="123444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22" name="Shape 20"/>
          <p:cNvSpPr/>
          <p:nvPr/>
        </p:nvSpPr>
        <p:spPr>
          <a:xfrm>
            <a:off x="292608" y="3822192"/>
            <a:ext cx="457200" cy="457200"/>
          </a:xfrm>
          <a:prstGeom prst="oval">
            <a:avLst/>
          </a:prstGeom>
          <a:solidFill>
            <a:srgbClr val="4A90D9">
              <a:alpha val="3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292608" y="3822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41248" y="378561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Parity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41248" y="4059936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Female: 12,560 | Male: 12,545 attrition counts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74320" y="4334256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Near-equal attrition by gender indicates no significant gender-based disparity — policies affecting all employees equally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54880" y="1005840"/>
            <a:ext cx="4297680" cy="1234440"/>
          </a:xfrm>
          <a:prstGeom prst="rect">
            <a:avLst/>
          </a:prstGeom>
          <a:solidFill>
            <a:srgbClr val="1E2F5C"/>
          </a:solidFill>
          <a:ln/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54880" y="1005840"/>
            <a:ext cx="54864" cy="1234440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29" name="Shape 27"/>
          <p:cNvSpPr/>
          <p:nvPr/>
        </p:nvSpPr>
        <p:spPr>
          <a:xfrm>
            <a:off x="4864608" y="1115568"/>
            <a:ext cx="457200" cy="457200"/>
          </a:xfrm>
          <a:prstGeom prst="oval">
            <a:avLst/>
          </a:prstGeom>
          <a:solidFill>
            <a:srgbClr val="00A8CC">
              <a:alpha val="3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4864608" y="1115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413248" y="10789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Overtime Factor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13248" y="135331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Overtime Yes: 12,534 | No: 12,571 attrition counts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846320" y="1627632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Overtime has minimal differential impact on attrition — both groups show nearly identical turnover rates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54880" y="2359152"/>
            <a:ext cx="4297680" cy="1234440"/>
          </a:xfrm>
          <a:prstGeom prst="rect">
            <a:avLst/>
          </a:prstGeom>
          <a:solidFill>
            <a:srgbClr val="1E2F5C"/>
          </a:solidFill>
          <a:ln/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0" y="2359152"/>
            <a:ext cx="54864" cy="12344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6" name="Shape 34"/>
          <p:cNvSpPr/>
          <p:nvPr/>
        </p:nvSpPr>
        <p:spPr>
          <a:xfrm>
            <a:off x="4864608" y="2468880"/>
            <a:ext cx="457200" cy="457200"/>
          </a:xfrm>
          <a:prstGeom prst="oval">
            <a:avLst/>
          </a:prstGeom>
          <a:solidFill>
            <a:srgbClr val="10B981">
              <a:alpha val="3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4864608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413248" y="243230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 Patterns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413248" y="2706624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total working years: ~20.5 years across all depts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846320" y="2980944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(20.65) and Sales (20.62) show slightly higher tenure — suggests stronger retention in these departments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754880" y="3712464"/>
            <a:ext cx="4297680" cy="1234440"/>
          </a:xfrm>
          <a:prstGeom prst="rect">
            <a:avLst/>
          </a:prstGeom>
          <a:solidFill>
            <a:srgbClr val="1E2F5C"/>
          </a:solidFill>
          <a:ln/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54880" y="3712464"/>
            <a:ext cx="54864" cy="1234440"/>
          </a:xfrm>
          <a:prstGeom prst="rect">
            <a:avLst/>
          </a:prstGeom>
          <a:solidFill>
            <a:srgbClr val="A8B8D0"/>
          </a:solidFill>
          <a:ln/>
        </p:spPr>
      </p:sp>
      <p:sp>
        <p:nvSpPr>
          <p:cNvPr id="43" name="Shape 41"/>
          <p:cNvSpPr/>
          <p:nvPr/>
        </p:nvSpPr>
        <p:spPr>
          <a:xfrm>
            <a:off x="4864608" y="3822192"/>
            <a:ext cx="457200" cy="457200"/>
          </a:xfrm>
          <a:prstGeom prst="oval">
            <a:avLst/>
          </a:prstGeom>
          <a:solidFill>
            <a:srgbClr val="A8B8D0">
              <a:alpha val="3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4864608" y="3822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5413248" y="378561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Work-Life Balance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413248" y="4059936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Scientists score highest WLB (2.514/5.0)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846320" y="4334256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Executives have the lowest WLB score (2.469) — targeted interventions in sales could improve retention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2E5EA6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5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actions to reduce attrition and improve workforce retention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18288"/>
          </a:xfrm>
          <a:prstGeom prst="rect">
            <a:avLst/>
          </a:prstGeom>
          <a:solidFill>
            <a:srgbClr val="2E5EA6"/>
          </a:solidFill>
          <a:ln/>
        </p:spPr>
      </p:sp>
      <p:sp>
        <p:nvSpPr>
          <p:cNvPr id="6" name="Shape 4"/>
          <p:cNvSpPr/>
          <p:nvPr/>
        </p:nvSpPr>
        <p:spPr>
          <a:xfrm>
            <a:off x="182880" y="1005840"/>
            <a:ext cx="4251960" cy="1874520"/>
          </a:xfrm>
          <a:prstGeom prst="rect">
            <a:avLst/>
          </a:prstGeom>
          <a:solidFill>
            <a:srgbClr val="1E2F5C"/>
          </a:solidFill>
          <a:ln/>
          <a:effectLst>
            <a:outerShdw sx="100000" sy="100000" kx="0" ky="0" algn="bl" rotWithShape="0" blurRad="101600" dist="508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1005840"/>
            <a:ext cx="4251960" cy="320040"/>
          </a:xfrm>
          <a:prstGeom prst="rect">
            <a:avLst/>
          </a:prstGeom>
          <a:solidFill>
            <a:srgbClr val="F0B429">
              <a:alpha val="1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82880" y="1005840"/>
            <a:ext cx="54864" cy="1874520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9" name="Shape 7"/>
          <p:cNvSpPr/>
          <p:nvPr/>
        </p:nvSpPr>
        <p:spPr>
          <a:xfrm>
            <a:off x="292608" y="1078992"/>
            <a:ext cx="347472" cy="347472"/>
          </a:xfrm>
          <a:prstGeom prst="oval">
            <a:avLst/>
          </a:prstGeom>
          <a:solidFill>
            <a:srgbClr val="F0B429"/>
          </a:solidFill>
          <a:ln/>
        </p:spPr>
      </p:sp>
      <p:sp>
        <p:nvSpPr>
          <p:cNvPr id="10" name="Text 8"/>
          <p:cNvSpPr/>
          <p:nvPr/>
        </p:nvSpPr>
        <p:spPr>
          <a:xfrm>
            <a:off x="292608" y="1078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13232" y="106070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PRIORITY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74320" y="137160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Retention Programs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0040" y="171907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stay interviews with long-tenure employees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20040" y="208483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structured career progression paths for all roles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20040" y="245059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retention bonuses at 3-year and 5-year milestones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63440" y="1005840"/>
            <a:ext cx="4251960" cy="1874520"/>
          </a:xfrm>
          <a:prstGeom prst="rect">
            <a:avLst/>
          </a:prstGeom>
          <a:solidFill>
            <a:srgbClr val="1E2F5C"/>
          </a:solidFill>
          <a:ln/>
          <a:effectLst>
            <a:outerShdw sx="100000" sy="100000" kx="0" ky="0" algn="bl" rotWithShape="0" blurRad="101600" dist="508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1005840"/>
            <a:ext cx="4251960" cy="320040"/>
          </a:xfrm>
          <a:prstGeom prst="rect">
            <a:avLst/>
          </a:prstGeom>
          <a:solidFill>
            <a:srgbClr val="EF4444">
              <a:alpha val="1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4663440" y="1005840"/>
            <a:ext cx="54864" cy="18745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9" name="Shape 17"/>
          <p:cNvSpPr/>
          <p:nvPr/>
        </p:nvSpPr>
        <p:spPr>
          <a:xfrm>
            <a:off x="4773168" y="1078992"/>
            <a:ext cx="347472" cy="347472"/>
          </a:xfrm>
          <a:prstGeom prst="oval">
            <a:avLst/>
          </a:prstGeom>
          <a:solidFill>
            <a:srgbClr val="EF4444"/>
          </a:solidFill>
          <a:ln/>
        </p:spPr>
      </p:sp>
      <p:sp>
        <p:nvSpPr>
          <p:cNvPr id="20" name="Text 18"/>
          <p:cNvSpPr/>
          <p:nvPr/>
        </p:nvSpPr>
        <p:spPr>
          <a:xfrm>
            <a:off x="4773168" y="1078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193792" y="106070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PRIORITY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754880" y="137160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Work-Life Balance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00600" y="171907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Sales Executive role — lowest WLB score (2.469)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800600" y="208483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flexible work arrangements across departments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00600" y="245059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and cap overtime hours with wellness programs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82880" y="3017520"/>
            <a:ext cx="4251960" cy="1874520"/>
          </a:xfrm>
          <a:prstGeom prst="rect">
            <a:avLst/>
          </a:prstGeom>
          <a:solidFill>
            <a:srgbClr val="1E2F5C"/>
          </a:solidFill>
          <a:ln/>
          <a:effectLst>
            <a:outerShdw sx="100000" sy="100000" kx="0" ky="0" algn="bl" rotWithShape="0" blurRad="101600" dist="508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82880" y="3017520"/>
            <a:ext cx="4251960" cy="320040"/>
          </a:xfrm>
          <a:prstGeom prst="rect">
            <a:avLst/>
          </a:prstGeom>
          <a:solidFill>
            <a:srgbClr val="4A90D9">
              <a:alpha val="1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82880" y="3017520"/>
            <a:ext cx="54864" cy="187452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29" name="Shape 27"/>
          <p:cNvSpPr/>
          <p:nvPr/>
        </p:nvSpPr>
        <p:spPr>
          <a:xfrm>
            <a:off x="292608" y="3090672"/>
            <a:ext cx="347472" cy="347472"/>
          </a:xfrm>
          <a:prstGeom prst="oval">
            <a:avLst/>
          </a:prstGeom>
          <a:solidFill>
            <a:srgbClr val="4A90D9"/>
          </a:solidFill>
          <a:ln/>
        </p:spPr>
      </p:sp>
      <p:sp>
        <p:nvSpPr>
          <p:cNvPr id="30" name="Text 28"/>
          <p:cNvSpPr/>
          <p:nvPr/>
        </p:nvSpPr>
        <p:spPr>
          <a:xfrm>
            <a:off x="292608" y="30906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13232" y="307238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PRIORITY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274320" y="338328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Compensation Strategy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20040" y="373075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income band ($25.8K–$26.4K) may reduce motivation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20040" y="409651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performance-linked variable pay components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20040" y="446227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compensation against industry standards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663440" y="3017520"/>
            <a:ext cx="4251960" cy="1874520"/>
          </a:xfrm>
          <a:prstGeom prst="rect">
            <a:avLst/>
          </a:prstGeom>
          <a:solidFill>
            <a:srgbClr val="1E2F5C"/>
          </a:solidFill>
          <a:ln/>
          <a:effectLst>
            <a:outerShdw sx="100000" sy="100000" kx="0" ky="0" algn="bl" rotWithShape="0" blurRad="101600" dist="50800" dir="8100000">
              <a:srgbClr val="000000">
                <a:alpha val="3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663440" y="3017520"/>
            <a:ext cx="4251960" cy="320040"/>
          </a:xfrm>
          <a:prstGeom prst="rect">
            <a:avLst/>
          </a:prstGeom>
          <a:solidFill>
            <a:srgbClr val="10B981">
              <a:alpha val="1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663440" y="3017520"/>
            <a:ext cx="54864" cy="18745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9" name="Shape 37"/>
          <p:cNvSpPr/>
          <p:nvPr/>
        </p:nvSpPr>
        <p:spPr>
          <a:xfrm>
            <a:off x="4773168" y="3090672"/>
            <a:ext cx="347472" cy="347472"/>
          </a:xfrm>
          <a:prstGeom prst="oval">
            <a:avLst/>
          </a:prstGeom>
          <a:solidFill>
            <a:srgbClr val="10B981"/>
          </a:solidFill>
          <a:ln/>
        </p:spPr>
      </p:sp>
      <p:sp>
        <p:nvSpPr>
          <p:cNvPr id="40" name="Text 38"/>
          <p:cNvSpPr/>
          <p:nvPr/>
        </p:nvSpPr>
        <p:spPr>
          <a:xfrm>
            <a:off x="4773168" y="30906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193792" y="307238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PRIORITY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754880" y="338328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Career Development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4800600" y="373075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with recent promotions show lower attrition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800600" y="409651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clear promotion timelines and criteria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800600" y="446227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training programs (tracked via TrainingTimesLastYear)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2E5EA6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5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243060"/>
          </a:solidFill>
          <a:ln/>
        </p:spPr>
      </p:sp>
      <p:sp>
        <p:nvSpPr>
          <p:cNvPr id="4" name="Shape 2"/>
          <p:cNvSpPr/>
          <p:nvPr/>
        </p:nvSpPr>
        <p:spPr>
          <a:xfrm>
            <a:off x="3840480" y="0"/>
            <a:ext cx="54864" cy="51435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5" name="Shape 3"/>
          <p:cNvSpPr/>
          <p:nvPr/>
        </p:nvSpPr>
        <p:spPr>
          <a:xfrm>
            <a:off x="182880" y="457200"/>
            <a:ext cx="82296" cy="82296"/>
          </a:xfrm>
          <a:prstGeom prst="oval">
            <a:avLst/>
          </a:prstGeom>
          <a:solidFill>
            <a:srgbClr val="4A90D9">
              <a:alpha val="2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457200"/>
            <a:ext cx="82296" cy="82296"/>
          </a:xfrm>
          <a:prstGeom prst="oval">
            <a:avLst/>
          </a:prstGeom>
          <a:solidFill>
            <a:srgbClr val="4A90D9">
              <a:alpha val="2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554480" y="457200"/>
            <a:ext cx="82296" cy="82296"/>
          </a:xfrm>
          <a:prstGeom prst="oval">
            <a:avLst/>
          </a:prstGeom>
          <a:solidFill>
            <a:srgbClr val="4A90D9">
              <a:alpha val="2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2240280" y="457200"/>
            <a:ext cx="82296" cy="82296"/>
          </a:xfrm>
          <a:prstGeom prst="oval">
            <a:avLst/>
          </a:prstGeom>
          <a:solidFill>
            <a:srgbClr val="4A90D9">
              <a:alpha val="2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2926080" y="457200"/>
            <a:ext cx="82296" cy="82296"/>
          </a:xfrm>
          <a:prstGeom prst="oval">
            <a:avLst/>
          </a:prstGeom>
          <a:solidFill>
            <a:srgbClr val="4A90D9">
              <a:alpha val="2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82880" y="1325880"/>
            <a:ext cx="82296" cy="82296"/>
          </a:xfrm>
          <a:prstGeom prst="oval">
            <a:avLst/>
          </a:prstGeom>
          <a:solidFill>
            <a:srgbClr val="4A90D9">
              <a:alpha val="2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68680" y="1325880"/>
            <a:ext cx="82296" cy="82296"/>
          </a:xfrm>
          <a:prstGeom prst="oval">
            <a:avLst/>
          </a:prstGeom>
          <a:solidFill>
            <a:srgbClr val="4A90D9">
              <a:alpha val="2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554480" y="1325880"/>
            <a:ext cx="82296" cy="82296"/>
          </a:xfrm>
          <a:prstGeom prst="oval">
            <a:avLst/>
          </a:prstGeom>
          <a:solidFill>
            <a:srgbClr val="4A90D9">
              <a:alpha val="2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240280" y="1325880"/>
            <a:ext cx="82296" cy="82296"/>
          </a:xfrm>
          <a:prstGeom prst="oval">
            <a:avLst/>
          </a:prstGeom>
          <a:solidFill>
            <a:srgbClr val="4A90D9">
              <a:alpha val="2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926080" y="1325880"/>
            <a:ext cx="82296" cy="82296"/>
          </a:xfrm>
          <a:prstGeom prst="oval">
            <a:avLst/>
          </a:prstGeom>
          <a:solidFill>
            <a:srgbClr val="4A90D9">
              <a:alpha val="2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82880" y="2194560"/>
            <a:ext cx="82296" cy="82296"/>
          </a:xfrm>
          <a:prstGeom prst="oval">
            <a:avLst/>
          </a:prstGeom>
          <a:solidFill>
            <a:srgbClr val="4A90D9">
              <a:alpha val="2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868680" y="2194560"/>
            <a:ext cx="82296" cy="82296"/>
          </a:xfrm>
          <a:prstGeom prst="oval">
            <a:avLst/>
          </a:prstGeom>
          <a:solidFill>
            <a:srgbClr val="4A90D9">
              <a:alpha val="2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554480" y="2194560"/>
            <a:ext cx="82296" cy="82296"/>
          </a:xfrm>
          <a:prstGeom prst="oval">
            <a:avLst/>
          </a:prstGeom>
          <a:solidFill>
            <a:srgbClr val="4A90D9">
              <a:alpha val="2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2240280" y="2194560"/>
            <a:ext cx="82296" cy="82296"/>
          </a:xfrm>
          <a:prstGeom prst="oval">
            <a:avLst/>
          </a:prstGeom>
          <a:solidFill>
            <a:srgbClr val="4A90D9">
              <a:alpha val="2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926080" y="2194560"/>
            <a:ext cx="82296" cy="82296"/>
          </a:xfrm>
          <a:prstGeom prst="oval">
            <a:avLst/>
          </a:prstGeom>
          <a:solidFill>
            <a:srgbClr val="4A90D9">
              <a:alpha val="2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82880" y="3063240"/>
            <a:ext cx="82296" cy="82296"/>
          </a:xfrm>
          <a:prstGeom prst="oval">
            <a:avLst/>
          </a:prstGeom>
          <a:solidFill>
            <a:srgbClr val="4A90D9">
              <a:alpha val="2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68680" y="3063240"/>
            <a:ext cx="82296" cy="82296"/>
          </a:xfrm>
          <a:prstGeom prst="oval">
            <a:avLst/>
          </a:prstGeom>
          <a:solidFill>
            <a:srgbClr val="4A90D9">
              <a:alpha val="2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554480" y="3063240"/>
            <a:ext cx="82296" cy="82296"/>
          </a:xfrm>
          <a:prstGeom prst="oval">
            <a:avLst/>
          </a:prstGeom>
          <a:solidFill>
            <a:srgbClr val="4A90D9">
              <a:alpha val="2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240280" y="3063240"/>
            <a:ext cx="82296" cy="82296"/>
          </a:xfrm>
          <a:prstGeom prst="oval">
            <a:avLst/>
          </a:prstGeom>
          <a:solidFill>
            <a:srgbClr val="4A90D9">
              <a:alpha val="2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926080" y="3063240"/>
            <a:ext cx="82296" cy="82296"/>
          </a:xfrm>
          <a:prstGeom prst="oval">
            <a:avLst/>
          </a:prstGeom>
          <a:solidFill>
            <a:srgbClr val="4A90D9">
              <a:alpha val="2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82880" y="3931920"/>
            <a:ext cx="82296" cy="82296"/>
          </a:xfrm>
          <a:prstGeom prst="oval">
            <a:avLst/>
          </a:prstGeom>
          <a:solidFill>
            <a:srgbClr val="4A90D9">
              <a:alpha val="2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868680" y="3931920"/>
            <a:ext cx="82296" cy="82296"/>
          </a:xfrm>
          <a:prstGeom prst="oval">
            <a:avLst/>
          </a:prstGeom>
          <a:solidFill>
            <a:srgbClr val="4A90D9">
              <a:alpha val="2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554480" y="3931920"/>
            <a:ext cx="82296" cy="82296"/>
          </a:xfrm>
          <a:prstGeom prst="oval">
            <a:avLst/>
          </a:prstGeom>
          <a:solidFill>
            <a:srgbClr val="4A90D9">
              <a:alpha val="2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240280" y="3931920"/>
            <a:ext cx="82296" cy="82296"/>
          </a:xfrm>
          <a:prstGeom prst="oval">
            <a:avLst/>
          </a:prstGeom>
          <a:solidFill>
            <a:srgbClr val="4A90D9">
              <a:alpha val="2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2926080" y="3931920"/>
            <a:ext cx="82296" cy="82296"/>
          </a:xfrm>
          <a:prstGeom prst="oval">
            <a:avLst/>
          </a:prstGeom>
          <a:solidFill>
            <a:srgbClr val="4A90D9">
              <a:alpha val="25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274320" y="10058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SUMMARY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74320" y="1417320"/>
            <a:ext cx="3383280" cy="566928"/>
          </a:xfrm>
          <a:prstGeom prst="rect">
            <a:avLst/>
          </a:prstGeom>
          <a:solidFill>
            <a:srgbClr val="1E2F5C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74320" y="1417320"/>
            <a:ext cx="45720" cy="56692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3" name="Text 31"/>
          <p:cNvSpPr/>
          <p:nvPr/>
        </p:nvSpPr>
        <p:spPr>
          <a:xfrm>
            <a:off x="411480" y="141732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50K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1463040" y="141732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Analyzed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74320" y="2075688"/>
            <a:ext cx="3383280" cy="566928"/>
          </a:xfrm>
          <a:prstGeom prst="rect">
            <a:avLst/>
          </a:prstGeom>
          <a:solidFill>
            <a:srgbClr val="1E2F5C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74320" y="2075688"/>
            <a:ext cx="45720" cy="56692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7" name="Text 35"/>
          <p:cNvSpPr/>
          <p:nvPr/>
        </p:nvSpPr>
        <p:spPr>
          <a:xfrm>
            <a:off x="411480" y="207568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1463040" y="207568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Deployed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74320" y="2734056"/>
            <a:ext cx="3383280" cy="566928"/>
          </a:xfrm>
          <a:prstGeom prst="rect">
            <a:avLst/>
          </a:prstGeom>
          <a:solidFill>
            <a:srgbClr val="1E2F5C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274320" y="2734056"/>
            <a:ext cx="45720" cy="56692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1" name="Text 39"/>
          <p:cNvSpPr/>
          <p:nvPr/>
        </p:nvSpPr>
        <p:spPr>
          <a:xfrm>
            <a:off x="411480" y="273405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42" name="Text 40"/>
          <p:cNvSpPr/>
          <p:nvPr/>
        </p:nvSpPr>
        <p:spPr>
          <a:xfrm>
            <a:off x="1463040" y="2734056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Merged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274320" y="3392424"/>
            <a:ext cx="3383280" cy="566928"/>
          </a:xfrm>
          <a:prstGeom prst="rect">
            <a:avLst/>
          </a:prstGeom>
          <a:solidFill>
            <a:srgbClr val="1E2F5C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274320" y="3392424"/>
            <a:ext cx="45720" cy="56692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5" name="Text 43"/>
          <p:cNvSpPr/>
          <p:nvPr/>
        </p:nvSpPr>
        <p:spPr>
          <a:xfrm>
            <a:off x="411480" y="339242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400" dirty="0"/>
          </a:p>
        </p:txBody>
      </p:sp>
      <p:sp>
        <p:nvSpPr>
          <p:cNvPr id="46" name="Text 44"/>
          <p:cNvSpPr/>
          <p:nvPr/>
        </p:nvSpPr>
        <p:spPr>
          <a:xfrm>
            <a:off x="1463040" y="3392424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KPIs Built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74320" y="4050792"/>
            <a:ext cx="3383280" cy="566928"/>
          </a:xfrm>
          <a:prstGeom prst="rect">
            <a:avLst/>
          </a:prstGeom>
          <a:solidFill>
            <a:srgbClr val="1E2F5C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274320" y="4050792"/>
            <a:ext cx="45720" cy="56692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9" name="Text 47"/>
          <p:cNvSpPr/>
          <p:nvPr/>
        </p:nvSpPr>
        <p:spPr>
          <a:xfrm>
            <a:off x="411480" y="405079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50" name="Text 48"/>
          <p:cNvSpPr/>
          <p:nvPr/>
        </p:nvSpPr>
        <p:spPr>
          <a:xfrm>
            <a:off x="1463040" y="4050792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Created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4114800" y="73152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2" name="Shape 50"/>
          <p:cNvSpPr/>
          <p:nvPr/>
        </p:nvSpPr>
        <p:spPr>
          <a:xfrm>
            <a:off x="4114800" y="1508760"/>
            <a:ext cx="4754880" cy="36576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53" name="Text 51"/>
          <p:cNvSpPr/>
          <p:nvPr/>
        </p:nvSpPr>
        <p:spPr>
          <a:xfrm>
            <a:off x="4114800" y="1627632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demonstrates end-to-end data analytics capabilities using industry-standard BI tools. From raw Excel data to interactive dashboards and SQL-driven KPIs, the HR Analytics project showcases proficiency in transforming data into strategic business insights.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4114800" y="269748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DEMONSTRATED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114800" y="3017520"/>
            <a:ext cx="2331720" cy="621792"/>
          </a:xfrm>
          <a:prstGeom prst="rect">
            <a:avLst/>
          </a:prstGeom>
          <a:solidFill>
            <a:srgbClr val="1E2F5C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4114800" y="3017520"/>
            <a:ext cx="36576" cy="621792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57" name="Text 55"/>
          <p:cNvSpPr/>
          <p:nvPr/>
        </p:nvSpPr>
        <p:spPr>
          <a:xfrm>
            <a:off x="4224528" y="3054096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4224528" y="32918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measures, slicers, KPI cards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537960" y="3017520"/>
            <a:ext cx="2331720" cy="621792"/>
          </a:xfrm>
          <a:prstGeom prst="rect">
            <a:avLst/>
          </a:prstGeom>
          <a:solidFill>
            <a:srgbClr val="1E2F5C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6537960" y="3017520"/>
            <a:ext cx="36576" cy="621792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61" name="Text 59"/>
          <p:cNvSpPr/>
          <p:nvPr/>
        </p:nvSpPr>
        <p:spPr>
          <a:xfrm>
            <a:off x="6647688" y="3054096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6647688" y="32918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fields, dual-axis charts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4114800" y="3730752"/>
            <a:ext cx="2331720" cy="621792"/>
          </a:xfrm>
          <a:prstGeom prst="rect">
            <a:avLst/>
          </a:prstGeom>
          <a:solidFill>
            <a:srgbClr val="1E2F5C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4114800" y="3730752"/>
            <a:ext cx="36576" cy="62179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5" name="Text 63"/>
          <p:cNvSpPr/>
          <p:nvPr/>
        </p:nvSpPr>
        <p:spPr>
          <a:xfrm>
            <a:off x="4224528" y="3767328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4224528" y="400507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tables, dynamic charts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6537960" y="3730752"/>
            <a:ext cx="2331720" cy="621792"/>
          </a:xfrm>
          <a:prstGeom prst="rect">
            <a:avLst/>
          </a:prstGeom>
          <a:solidFill>
            <a:srgbClr val="1E2F5C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6537960" y="3730752"/>
            <a:ext cx="36576" cy="62179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69" name="Text 67"/>
          <p:cNvSpPr/>
          <p:nvPr/>
        </p:nvSpPr>
        <p:spPr>
          <a:xfrm>
            <a:off x="6647688" y="3767328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6647688" y="400507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JOINs, GROUP BY, CASE WHEN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4114800" y="480060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Analytics Project  |  Data Analyst Portfolio  |  2024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2E5EA6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HR Analytics Dashboard — Presentation</dc:title>
  <dc:subject>PptxGenJS Presentation</dc:subject>
  <dc:creator>PptxGenJS</dc:creator>
  <cp:lastModifiedBy>PptxGenJS</cp:lastModifiedBy>
  <cp:revision>1</cp:revision>
  <dcterms:created xsi:type="dcterms:W3CDTF">2026-06-02T22:02:43Z</dcterms:created>
  <dcterms:modified xsi:type="dcterms:W3CDTF">2026-06-02T22:02:43Z</dcterms:modified>
</cp:coreProperties>
</file>